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73152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Segoe UI"/>
              </a:defRPr>
            </a:pPr>
            <a:r>
              <a:t>Figure 5.1  Defense in Depth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38912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Segoe UI"/>
              </a:defRPr>
            </a:pPr>
            <a:r>
              <a:t>Purpose: Layered security controls from network perimeter through application, financial processing, and immutable audit.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1950" y="3152775"/>
            <a:ext cx="1788795" cy="685800"/>
          </a:xfrm>
          <a:prstGeom prst="rect">
            <a:avLst/>
          </a:prstGeom>
          <a:solidFill>
            <a:srgbClr val="E7DFEC"/>
          </a:solidFill>
          <a:ln w="25400"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Internet Perimeter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379345" y="3152775"/>
            <a:ext cx="1788795" cy="685800"/>
          </a:xfrm>
          <a:prstGeom prst="rect">
            <a:avLst/>
          </a:prstGeom>
          <a:solidFill>
            <a:srgbClr val="F3F2F1"/>
          </a:solidFill>
          <a:ln w="25400">
            <a:solidFill>
              <a:srgbClr val="605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Edge Protection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396740" y="31527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Authentication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14135" y="31527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Authorization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431530" y="31527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Business Validation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1950" y="4257675"/>
            <a:ext cx="1905000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Financial Controls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95550" y="4257675"/>
            <a:ext cx="1905000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Data Protection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29150" y="4257675"/>
            <a:ext cx="1905000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Immutable Audit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1950" y="3152775"/>
            <a:ext cx="1788795" cy="685800"/>
          </a:xfrm>
          <a:prstGeom prst="rect">
            <a:avLst/>
          </a:prstGeom>
          <a:solidFill>
            <a:srgbClr val="E7DFEC"/>
          </a:solidFill>
          <a:ln w="25400"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Internet Perimeter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9345" y="3152775"/>
            <a:ext cx="1788795" cy="685800"/>
          </a:xfrm>
          <a:prstGeom prst="rect">
            <a:avLst/>
          </a:prstGeom>
          <a:solidFill>
            <a:srgbClr val="F3F2F1"/>
          </a:solidFill>
          <a:ln w="25400">
            <a:solidFill>
              <a:srgbClr val="605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Edge Protection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96740" y="31527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Authentication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14135" y="31527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Authorization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31530" y="31527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Business Validation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1950" y="4257675"/>
            <a:ext cx="1905000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Financial Controls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95550" y="4257675"/>
            <a:ext cx="1905000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Data Protection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29150" y="4257675"/>
            <a:ext cx="1905000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Immutable Audit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1950" y="3152775"/>
            <a:ext cx="1788795" cy="685800"/>
          </a:xfrm>
          <a:prstGeom prst="rect">
            <a:avLst/>
          </a:prstGeom>
          <a:solidFill>
            <a:srgbClr val="E7DFEC"/>
          </a:solidFill>
          <a:ln w="25400"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Internet Perimeter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79345" y="3152775"/>
            <a:ext cx="1788795" cy="685800"/>
          </a:xfrm>
          <a:prstGeom prst="rect">
            <a:avLst/>
          </a:prstGeom>
          <a:solidFill>
            <a:srgbClr val="F3F2F1"/>
          </a:solidFill>
          <a:ln w="25400">
            <a:solidFill>
              <a:srgbClr val="605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Edge Protection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96740" y="31527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Authentication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14135" y="31527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Authorization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31530" y="31527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Business Validation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1950" y="4257675"/>
            <a:ext cx="1905000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Financial Controls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95550" y="4257675"/>
            <a:ext cx="1905000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Data Protection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29150" y="4257675"/>
            <a:ext cx="1905000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Immutable Audit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
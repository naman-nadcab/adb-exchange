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689336" cy="756208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73152"/>
            <a:ext cx="9601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latin typeface="Segoe UI"/>
              </a:defRPr>
            </a:pPr>
            <a:r>
              <a:t>Figure 6.1  Production Infrastructure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438912"/>
            <a:ext cx="96012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Segoe UI"/>
              </a:defRPr>
            </a:pPr>
            <a:r>
              <a:t>Purpose: Production deployment topology from internet edge through containers, business services, databases, and monitoring.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266700" y="990599"/>
            <a:ext cx="10163175" cy="942975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66700" y="2009774"/>
            <a:ext cx="10163175" cy="942975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66700" y="3028950"/>
            <a:ext cx="10163175" cy="942975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6700" y="4048124"/>
            <a:ext cx="10163175" cy="942975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6700" y="5067300"/>
            <a:ext cx="10163175" cy="942975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66700" y="6086475"/>
            <a:ext cx="10163175" cy="942975"/>
          </a:xfrm>
          <a:prstGeom prst="rect">
            <a:avLst/>
          </a:prstGeom>
          <a:solidFill>
            <a:srgbClr val="F5F5F5"/>
          </a:solidFill>
          <a:ln w="19050">
            <a:solidFill>
              <a:srgbClr val="C8C6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119187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Internet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52700" y="1119187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Public DNS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8200" y="1119187"/>
            <a:ext cx="1866899" cy="685800"/>
          </a:xfrm>
          <a:prstGeom prst="rect">
            <a:avLst/>
          </a:prstGeom>
          <a:solidFill>
            <a:srgbClr val="E7DFEC"/>
          </a:solidFill>
          <a:ln w="25400">
            <a:solidFill>
              <a:srgbClr val="5C2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Client Traffic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38362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Reverse Proxy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52700" y="2138362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TLS Gateway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48200" y="2138362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Route Control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157537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Web Container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552700" y="3157537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Admin Container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48200" y="3157537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API Container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743700" y="3157537"/>
            <a:ext cx="1866899" cy="685800"/>
          </a:xfrm>
          <a:prstGeom prst="rect">
            <a:avLst/>
          </a:prstGeom>
          <a:solidFill>
            <a:srgbClr val="F3F2F1"/>
          </a:solidFill>
          <a:ln w="25400">
            <a:solidFill>
              <a:srgbClr val="605E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Engine Container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176712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Trading Service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52700" y="4176712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Wallet Service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48200" y="4176712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Settlement Service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743700" y="4176712"/>
            <a:ext cx="1866899" cy="685800"/>
          </a:xfrm>
          <a:prstGeom prst="rect">
            <a:avLst/>
          </a:prstGeom>
          <a:solidFill>
            <a:srgbClr val="DEECF9"/>
          </a:solidFill>
          <a:ln w="2540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Indexer Service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5195887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Operational Database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552700" y="5195887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Distributed Cache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48200" y="5195887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Message Broker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43700" y="5195887"/>
            <a:ext cx="1866899" cy="685800"/>
          </a:xfrm>
          <a:prstGeom prst="rect">
            <a:avLst/>
          </a:prstGeom>
          <a:solidFill>
            <a:srgbClr val="FFF4CE"/>
          </a:solidFill>
          <a:ln w="25400">
            <a:solidFill>
              <a:srgbClr val="FFB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Event Streaming Platform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215062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Prometheus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552700" y="6215062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Grafana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48200" y="6215062"/>
            <a:ext cx="1866899" cy="685800"/>
          </a:xfrm>
          <a:prstGeom prst="rect">
            <a:avLst/>
          </a:prstGeom>
          <a:solidFill>
            <a:srgbClr val="D4EDDA"/>
          </a:solidFill>
          <a:ln w="25400">
            <a:solidFill>
              <a:srgbClr val="107C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/>
          <a:lstStyle/>
          <a:p>
            <a:pPr algn="l">
              <a:defRPr sz="1500" b="1">
                <a:latin typeface="Segoe UI"/>
              </a:defRPr>
            </a:pPr>
            <a:r>
              <a:t>Health Checks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
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7315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Segoe UI"/>
              </a:defRPr>
            </a:pPr>
            <a:r>
              <a:t>Figure 4.3  Matching Engine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3891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Segoe UI"/>
              </a:defRPr>
            </a:pPr>
            <a:r>
              <a:t>Purpose: How orders are validated, matched, persisted, and published as trade events for downstream settlement.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266700" y="990599"/>
            <a:ext cx="10163175" cy="2981325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6700" y="4048124"/>
            <a:ext cx="10163175" cy="2981325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38362"/>
            <a:ext cx="1471612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Order Input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57412" y="2138362"/>
            <a:ext cx="1471612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857625" y="2138362"/>
            <a:ext cx="1471612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Order Book</a:t>
            </a:r>
          </a:p>
        </p:txBody>
      </p:sp>
      <p:sp>
        <p:nvSpPr>
          <p:cNvPr id="9" name="Rectangle 8"/>
          <p:cNvSpPr/>
          <p:nvPr/>
        </p:nvSpPr>
        <p:spPr>
          <a:xfrm>
            <a:off x="5557837" y="2138362"/>
            <a:ext cx="1471612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Price-Time Priority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58050" y="2138362"/>
            <a:ext cx="1471612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Matching Engine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58262" y="2138362"/>
            <a:ext cx="1471612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Trade Generation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195887"/>
            <a:ext cx="1811655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Write-Ahead Log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97454" y="5195887"/>
            <a:ext cx="1811655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Event Streaming Platform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37709" y="5195887"/>
            <a:ext cx="1811655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Event Bus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77964" y="5195887"/>
            <a:ext cx="181165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Output APIs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18219" y="5195887"/>
            <a:ext cx="181165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Settlement Handoff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